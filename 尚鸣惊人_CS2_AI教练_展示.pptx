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73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0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CS2 · AI COACH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/>
              <a:t>CS2-</a:t>
            </a:r>
            <a:r>
              <a:rPr lang="en-US"/>
              <a:t>Coach</a:t>
            </a:r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5029200" y="3657600"/>
            <a:ext cx="2103120" cy="381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一站式 CS2 数据分析 + 战术教练系统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5156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李尚基 × 潘一鸣   </a:t>
            </a:r>
            <a:r>
              <a:rPr lang="en-US"/>
              <a:t>AI</a:t>
            </a:r>
            <a:r>
              <a:rPr lang="zh-CN" altLang="en-US"/>
              <a:t>实践基石</a:t>
            </a:r>
            <a:r>
              <a:t>·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9625" y="479425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01 · 选题意义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67730" y="105029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为什么需要一个智能体？</a:t>
            </a:r>
          </a:p>
        </p:txBody>
      </p:sp>
      <p:sp>
        <p:nvSpPr>
          <p:cNvPr id="4" name="Rounded Rectangle 3"/>
          <p:cNvSpPr/>
          <p:nvPr>
            <p:custDataLst>
              <p:tags r:id="rId1"/>
            </p:custDataLst>
          </p:nvPr>
        </p:nvSpPr>
        <p:spPr>
          <a:xfrm>
            <a:off x="6333490" y="2147570"/>
            <a:ext cx="50800" cy="7315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6699250" y="214757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自动复盘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6699250" y="246761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3 秒解析整场 Demo，告别几小时录像回放</a:t>
            </a:r>
          </a:p>
        </p:txBody>
      </p:sp>
      <p:sp>
        <p:nvSpPr>
          <p:cNvPr id="7" name="Rounded Rectangle 6"/>
          <p:cNvSpPr/>
          <p:nvPr>
            <p:custDataLst>
              <p:tags r:id="rId4"/>
            </p:custDataLst>
          </p:nvPr>
        </p:nvSpPr>
        <p:spPr>
          <a:xfrm>
            <a:off x="6333490" y="3153410"/>
            <a:ext cx="50800" cy="7315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6699250" y="315341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个性化指导</a:t>
            </a: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6699250" y="347345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大模型根据你的数据生成针对性训练建议</a:t>
            </a:r>
          </a:p>
        </p:txBody>
      </p:sp>
      <p:sp>
        <p:nvSpPr>
          <p:cNvPr id="10" name="Rounded Rectangle 9"/>
          <p:cNvSpPr/>
          <p:nvPr>
            <p:custDataLst>
              <p:tags r:id="rId7"/>
            </p:custDataLst>
          </p:nvPr>
        </p:nvSpPr>
        <p:spPr>
          <a:xfrm>
            <a:off x="6333490" y="4159250"/>
            <a:ext cx="50800" cy="7315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6699250" y="415925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职业对标</a:t>
            </a:r>
          </a:p>
        </p:txBody>
      </p:sp>
      <p:sp>
        <p:nvSpPr>
          <p:cNvPr id="12" name="TextBox 11"/>
          <p:cNvSpPr txBox="1"/>
          <p:nvPr>
            <p:custDataLst>
              <p:tags r:id="rId9"/>
            </p:custDataLst>
          </p:nvPr>
        </p:nvSpPr>
        <p:spPr>
          <a:xfrm>
            <a:off x="6699250" y="447929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与 20+ 职业选手数据对比，找到差距在哪里</a:t>
            </a:r>
          </a:p>
        </p:txBody>
      </p:sp>
      <p:sp>
        <p:nvSpPr>
          <p:cNvPr id="13" name="Rounded Rectangle 12"/>
          <p:cNvSpPr/>
          <p:nvPr>
            <p:custDataLst>
              <p:tags r:id="rId10"/>
            </p:custDataLst>
          </p:nvPr>
        </p:nvSpPr>
        <p:spPr>
          <a:xfrm>
            <a:off x="6333490" y="5165090"/>
            <a:ext cx="50800" cy="7315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11"/>
            </p:custDataLst>
          </p:nvPr>
        </p:nvSpPr>
        <p:spPr>
          <a:xfrm>
            <a:off x="6699250" y="516509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实时指导</a:t>
            </a:r>
          </a:p>
        </p:txBody>
      </p:sp>
      <p:sp>
        <p:nvSpPr>
          <p:cNvPr id="15" name="TextBox 14"/>
          <p:cNvSpPr txBox="1"/>
          <p:nvPr>
            <p:custDataLst>
              <p:tags r:id="rId12"/>
            </p:custDataLst>
          </p:nvPr>
        </p:nvSpPr>
        <p:spPr>
          <a:xfrm>
            <a:off x="6699250" y="548513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GSI 实时监控，比赛中同步数据随时分析</a:t>
            </a:r>
          </a:p>
        </p:txBody>
      </p:sp>
      <p:sp>
        <p:nvSpPr>
          <p:cNvPr id="16" name="Rounded Rectangle 1"/>
          <p:cNvSpPr/>
          <p:nvPr/>
        </p:nvSpPr>
        <p:spPr>
          <a:xfrm>
            <a:off x="862965" y="2071370"/>
            <a:ext cx="4307840" cy="76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3"/>
          <p:cNvSpPr txBox="1"/>
          <p:nvPr/>
        </p:nvSpPr>
        <p:spPr>
          <a:xfrm>
            <a:off x="-790575" y="229235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让 AI 当你的教练</a:t>
            </a:r>
          </a:p>
        </p:txBody>
      </p:sp>
      <p:sp>
        <p:nvSpPr>
          <p:cNvPr id="18" name="TextBox 4"/>
          <p:cNvSpPr txBox="1"/>
          <p:nvPr/>
        </p:nvSpPr>
        <p:spPr>
          <a:xfrm>
            <a:off x="-790575" y="320675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CS2 每天上百万玩家打排位，但复盘？看几小时录像太累了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2377440"/>
            <a:ext cx="5943600" cy="381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两个大脑，一个目标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输入：.dem 文件 / GSI 实时数据  →  输出：HTML 报告 + AI 对话 + 战术指导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02 · 方案设计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整体流程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8100" cy="8229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解析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40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parser.py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26080"/>
            <a:ext cx="38100" cy="8229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分析 + 可视化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37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analysis.py + visualization.py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023360"/>
            <a:ext cx="38100" cy="8229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02336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6B6D4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2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生成 HTML 报告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434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report.py（图表全部内嵌，离线可用）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120639"/>
            <a:ext cx="3810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120639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1206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 对话 + 战术分析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53211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dialog.py + pan_coach.py（11 个 @tool + LLM）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0625" y="1463040"/>
            <a:ext cx="7089775" cy="3898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02 · 方案设计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双 Agent 协作架构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645920"/>
            <a:ext cx="4114800" cy="4572000"/>
          </a:xfrm>
          <a:prstGeom prst="roundRect">
            <a:avLst/>
          </a:prstGeom>
          <a:solidFill>
            <a:srgbClr val="11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0" y="1645920"/>
            <a:ext cx="4114800" cy="381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828800"/>
            <a:ext cx="356616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 Agent</a:t>
            </a:r>
            <a:r>
              <a:rPr lang="en-US"/>
              <a:t> 1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03120" y="2286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微软雅黑" panose="020B0503020204020204" charset="-122"/>
              </a:defRPr>
            </a:pPr>
            <a:r>
              <a:t>数据分析引擎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83464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微软雅黑" panose="020B0503020204020204" charset="-122"/>
              </a:defRPr>
            </a:pPr>
          </a:p>
          <a:p>
            <a:pPr algn="l">
              <a:spcBef>
                <a:spcPts val="400"/>
              </a:spcBef>
              <a:defRPr sz="1100" b="0">
                <a:solidFill>
                  <a:srgbClr val="D1D5DB"/>
                </a:solidFill>
                <a:latin typeface="微软雅黑" panose="020B0503020204020204" charset="-122"/>
              </a:defRPr>
            </a:pPr>
            <a:r>
              <a:t>▸ Demo 解析（击杀/位置/武器/分段）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D1D5DB"/>
                </a:solidFill>
                <a:latin typeface="微软雅黑" panose="020B0503020204020204" charset="-122"/>
              </a:defRPr>
            </a:pPr>
            <a:r>
              <a:t>▸ 数据可视化（Matplotlib 深色主题）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D1D5DB"/>
                </a:solidFill>
                <a:latin typeface="微软雅黑" panose="020B0503020204020204" charset="-122"/>
              </a:defRPr>
            </a:pPr>
            <a:r>
              <a:t>▸ HTML 报告生成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D1D5DB"/>
                </a:solidFill>
                <a:latin typeface="微软雅黑" panose="020B0503020204020204" charset="-122"/>
              </a:defRPr>
            </a:pPr>
            <a:r>
              <a:t>▸ 长期 + 短期记忆系统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D1D5DB"/>
                </a:solidFill>
                <a:latin typeface="微软雅黑" panose="020B0503020204020204" charset="-122"/>
              </a:defRPr>
            </a:pPr>
            <a:r>
              <a:t>▸ 20+ 职业选手 × 12 维对比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D1D5DB"/>
                </a:solidFill>
                <a:latin typeface="微软雅黑" panose="020B0503020204020204" charset="-122"/>
              </a:defRPr>
            </a:pPr>
            <a:r>
              <a:t>▸ GSI 实时监控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4114800" cy="4572000"/>
          </a:xfrm>
          <a:prstGeom prst="roundRect">
            <a:avLst/>
          </a:prstGeom>
          <a:solidFill>
            <a:srgbClr val="1E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4114800" cy="381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828800"/>
            <a:ext cx="356616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微软雅黑" panose="020B0503020204020204" charset="-122"/>
              </a:defRPr>
            </a:pPr>
            <a:r>
              <a:t>Agent</a:t>
            </a:r>
            <a:r>
              <a:rPr lang="en-US"/>
              <a:t> 2</a:t>
            </a:r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B5FD"/>
                </a:solidFill>
                <a:latin typeface="微软雅黑" panose="020B0503020204020204" charset="-122"/>
              </a:defRPr>
            </a:pPr>
            <a:r>
              <a:t>战术知识引擎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83464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微软雅黑" panose="020B0503020204020204" charset="-122"/>
              </a:defRPr>
            </a:pPr>
          </a:p>
          <a:p>
            <a:pPr algn="l">
              <a:spcBef>
                <a:spcPts val="400"/>
              </a:spcBef>
              <a:defRPr sz="1100" b="0">
                <a:solidFill>
                  <a:srgbClr val="D1D5DB"/>
                </a:solidFill>
                <a:latin typeface="微软雅黑" panose="020B0503020204020204" charset="-122"/>
              </a:defRPr>
            </a:pPr>
            <a:r>
              <a:t>▸ 地图知识（6 张比赛地图点位）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D1D5DB"/>
                </a:solidFill>
                <a:latin typeface="微软雅黑" panose="020B0503020204020204" charset="-122"/>
              </a:defRPr>
            </a:pPr>
            <a:r>
              <a:t>▸ 投掷物路线数据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D1D5DB"/>
                </a:solidFill>
                <a:latin typeface="微软雅黑" panose="020B0503020204020204" charset="-122"/>
              </a:defRPr>
            </a:pPr>
            <a:r>
              <a:t>▸ 武器属性系统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D1D5DB"/>
                </a:solidFill>
                <a:latin typeface="微软雅黑" panose="020B0503020204020204" charset="-122"/>
              </a:defRPr>
            </a:pPr>
            <a:r>
              <a:t>▸ 经济策略模型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D1D5DB"/>
                </a:solidFill>
                <a:latin typeface="微软雅黑" panose="020B0503020204020204" charset="-122"/>
              </a:defRPr>
            </a:pPr>
            <a:r>
              <a:t>▸ ChromaDB 向量检索（语义搜索）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D1D5DB"/>
                </a:solidFill>
                <a:latin typeface="微软雅黑" panose="020B0503020204020204" charset="-122"/>
              </a:defRPr>
            </a:pPr>
            <a:r>
              <a:t>▸ 残局战术推理 + LLM 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集成层 integration/ → IntegratedCoach 双 Agent 无缝配合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02 · 方案设计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11 个 @tool 工具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4572000" cy="594360"/>
          </a:xfrm>
          <a:prstGeom prst="roundRect">
            <a:avLst/>
          </a:prstGeom>
          <a:solidFill>
            <a:srgbClr val="11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3810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691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🔍 get_player_history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40" y="17190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查询玩家历史记录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377440"/>
            <a:ext cx="4572000" cy="594360"/>
          </a:xfrm>
          <a:prstGeom prst="roundRect">
            <a:avLst/>
          </a:prstGeom>
          <a:solidFill>
            <a:srgbClr val="11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2377440"/>
            <a:ext cx="3810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4231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📈 get_player_trend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45059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指标趋势分析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108960"/>
            <a:ext cx="4572000" cy="594360"/>
          </a:xfrm>
          <a:prstGeom prst="roundRect">
            <a:avLst/>
          </a:prstGeom>
          <a:solidFill>
            <a:srgbClr val="11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7280" y="3108960"/>
            <a:ext cx="3810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1546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👥 get_all_players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18211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查看所有玩家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840480"/>
            <a:ext cx="4572000" cy="594360"/>
          </a:xfrm>
          <a:prstGeom prst="roundRect">
            <a:avLst/>
          </a:prstGeom>
          <a:solidFill>
            <a:srgbClr val="11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7280" y="3840480"/>
            <a:ext cx="3810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886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📋 get_training_plan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391363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每日训练计划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572000"/>
            <a:ext cx="4572000" cy="594360"/>
          </a:xfrm>
          <a:prstGeom prst="roundRect">
            <a:avLst/>
          </a:prstGeom>
          <a:solidFill>
            <a:srgbClr val="11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97280" y="4572000"/>
            <a:ext cx="3810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4617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🔫 get_weapon_advice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464515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武器训练建议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5303520"/>
            <a:ext cx="4572000" cy="594360"/>
          </a:xfrm>
          <a:prstGeom prst="roundRect">
            <a:avLst/>
          </a:prstGeom>
          <a:solidFill>
            <a:srgbClr val="11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97280" y="5303520"/>
            <a:ext cx="3810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5349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🏆 compare_with_pro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53766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职业选手对比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645920"/>
            <a:ext cx="4572000" cy="594360"/>
          </a:xfrm>
          <a:prstGeom prst="roundRect">
            <a:avLst/>
          </a:prstGeom>
          <a:solidFill>
            <a:srgbClr val="11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0" y="1645920"/>
            <a:ext cx="3810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1691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📊 get_pro_leaderboard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17190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职业选手排行榜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377440"/>
            <a:ext cx="4572000" cy="594360"/>
          </a:xfrm>
          <a:prstGeom prst="roundRect">
            <a:avLst/>
          </a:prstGeom>
          <a:solidFill>
            <a:srgbClr val="1E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0" y="2377440"/>
            <a:ext cx="38100" cy="5943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24231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📚 query_knowledge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245059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语义检索知识库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108960"/>
            <a:ext cx="4572000" cy="594360"/>
          </a:xfrm>
          <a:prstGeom prst="roundRect">
            <a:avLst/>
          </a:prstGeom>
          <a:solidFill>
            <a:srgbClr val="1E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00800" y="3108960"/>
            <a:ext cx="38100" cy="5943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31546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🗺️ get_map_tactics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318211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地图战术建议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3840480"/>
            <a:ext cx="4572000" cy="594360"/>
          </a:xfrm>
          <a:prstGeom prst="roundRect">
            <a:avLst/>
          </a:prstGeom>
          <a:solidFill>
            <a:srgbClr val="1E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00800" y="3840480"/>
            <a:ext cx="38100" cy="5943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3886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💣 get_grenade_routes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391363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投掷物路线查询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4572000"/>
            <a:ext cx="4572000" cy="594360"/>
          </a:xfrm>
          <a:prstGeom prst="roundRect">
            <a:avLst/>
          </a:prstGeom>
          <a:solidFill>
            <a:srgbClr val="1E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400800" y="4572000"/>
            <a:ext cx="38100" cy="5943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4617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💰 get_eco_advice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464515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经济策略分析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李尚基 × 7 个   |   潘一鸣 × 4 个   |   LangChain @tool 自动路由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2377440"/>
            <a:ext cx="5943600" cy="381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7724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/>
              <a:t>特色与创新</a:t>
            </a:r>
            <a:r>
              <a:rPr lang="zh-CN"/>
              <a:t>点</a:t>
            </a:r>
            <a:endParaRPr lang="zh-CN"/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不只是做出来了，还要做得漂亮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03 · 特色与创新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20+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职业选手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× 12 个维度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200400"/>
            <a:ext cx="1554480" cy="100584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K/D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击杀比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3200400"/>
            <a:ext cx="1554480" cy="100584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32918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微软雅黑" panose="020B0503020204020204" charset="-122"/>
              </a:defRPr>
            </a:pPr>
            <a:r>
              <a:t>HS%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749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爆头率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200400"/>
            <a:ext cx="1554480" cy="100584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2918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微软雅黑" panose="020B0503020204020204" charset="-122"/>
              </a:defRPr>
            </a:pPr>
            <a:r>
              <a:t>ADR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749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场均伤害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200400"/>
            <a:ext cx="1554480" cy="100584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2918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微软雅黑" panose="020B0503020204020204" charset="-122"/>
              </a:defRPr>
            </a:pPr>
            <a:r>
              <a:t>Rating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749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综合评分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200400"/>
            <a:ext cx="1554480" cy="100584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32918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749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影响力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3200400"/>
            <a:ext cx="1554480" cy="100584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32918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72B6"/>
                </a:solidFill>
                <a:latin typeface="微软雅黑" panose="020B0503020204020204" charset="-122"/>
              </a:defRPr>
            </a:pPr>
            <a:r>
              <a:t>KPR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749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回合击杀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572000"/>
            <a:ext cx="1554480" cy="100584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663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KAST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20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存活贡献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34640" y="4572000"/>
            <a:ext cx="1554480" cy="100584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4663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微软雅黑" panose="020B0503020204020204" charset="-122"/>
              </a:defRPr>
            </a:pPr>
            <a:r>
              <a:t>Clutch%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120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残局胜率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4572000"/>
            <a:ext cx="1554480" cy="100584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663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微软雅黑" panose="020B0503020204020204" charset="-122"/>
              </a:defRPr>
            </a:pPr>
            <a:r>
              <a:t>Multi%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120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多杀率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4572000"/>
            <a:ext cx="1554480" cy="100584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663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微软雅黑" panose="020B0503020204020204" charset="-122"/>
              </a:defRPr>
            </a:pPr>
            <a:r>
              <a:t>OpenKPR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120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首杀率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4572000"/>
            <a:ext cx="1554480" cy="100584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0" y="4663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UtilDmg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5120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道具伤害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84080" y="4572000"/>
            <a:ext cx="1554480" cy="100584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0" y="4663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72B6"/>
                </a:solidFill>
                <a:latin typeface="微软雅黑" panose="020B0503020204020204" charset="-122"/>
              </a:defRPr>
            </a:pPr>
            <a:r>
              <a:t>Flash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5120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闪助攻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欧几里得距离 → 自动匹配与你打法最相似的选手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03 · 特色与创新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七大创新亮点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80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  双 Agent 协作架构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66420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数据分析 + 战术知识各司其职，通过集成层无缝配合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59152"/>
            <a:ext cx="50800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591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  职业选手对比系统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3774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20+ 选手 × 12 维度，欧几里得距离自动匹配相似选手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72384"/>
            <a:ext cx="50800" cy="5486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072384"/>
            <a:ext cx="320040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  知识库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09067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语义检索，支持按地图/类别过滤，90+ 知识条目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85616"/>
            <a:ext cx="5080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7856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  GSI 实时监控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803904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比赛中实时推送数据，即时分析对局状态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98848"/>
            <a:ext cx="5080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4988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  全自动 Demo 定位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517136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读 Steam 注册表 + libraryfolders.vdf，一键定位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12080"/>
            <a:ext cx="50800" cy="54864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212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06  单文件 HTML 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23036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图表全部 base64 内嵌，离线可看，无网络依赖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925312"/>
            <a:ext cx="50800" cy="548640"/>
          </a:xfrm>
          <a:prstGeom prst="roundRect">
            <a:avLst/>
          </a:prstGeom>
          <a:solidFill>
            <a:srgbClr val="818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9253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07  长短期双记忆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9436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JSON 长期记忆 + 对话上下文短期记忆，记录进步历程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2377440"/>
            <a:ext cx="5943600" cy="381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用数据说话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77724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所见即所得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2377440"/>
            <a:ext cx="5943600" cy="381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各司其职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两人项目，各有所长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你离职业</a:t>
            </a:r>
            <a:br/>
            <a:r>
              <a:t>只差一个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3657600"/>
            <a:ext cx="2103120" cy="381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李尚基 · 2025013285    潘一鸣</a:t>
            </a:r>
            <a:r>
              <a:rPr lang="en-US"/>
              <a:t> </a:t>
            </a:r>
            <a:r>
              <a:rPr>
                <a:sym typeface="+mn-ea"/>
              </a:rPr>
              <a:t>·</a:t>
            </a:r>
            <a:r>
              <a:rPr lang="en-US">
                <a:sym typeface="+mn-ea"/>
              </a:rPr>
              <a:t> </a:t>
            </a:r>
            <a:r>
              <a:rPr lang="en-US"/>
              <a:t>2025013288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5156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lang="en-US"/>
              <a:t>Ai</a:t>
            </a:r>
            <a:r>
              <a:rPr lang="zh-CN" altLang="en-US"/>
              <a:t>实践基石</a:t>
            </a:r>
            <a:r>
              <a:t> ·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谢谢！欢迎提问 🦊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3.35,&quot;left&quot;:86.4,&quot;top&quot;:158.4,&quot;width&quot;:737.6}"/>
</p:tagLst>
</file>

<file path=ppt/tags/tag2.xml><?xml version="1.0" encoding="utf-8"?>
<p:tagLst xmlns:p="http://schemas.openxmlformats.org/presentationml/2006/main">
  <p:tag name="KSO_WM_DIAGRAM_VIRTUALLY_FRAME" val="{&quot;height&quot;:303.35,&quot;left&quot;:86.4,&quot;top&quot;:158.4,&quot;width&quot;:737.6}"/>
</p:tagLst>
</file>

<file path=ppt/tags/tag3.xml><?xml version="1.0" encoding="utf-8"?>
<p:tagLst xmlns:p="http://schemas.openxmlformats.org/presentationml/2006/main">
  <p:tag name="KSO_WM_DIAGRAM_VIRTUALLY_FRAME" val="{&quot;height&quot;:303.35,&quot;left&quot;:86.4,&quot;top&quot;:158.4,&quot;width&quot;:737.6}"/>
</p:tagLst>
</file>

<file path=ppt/tags/tag4.xml><?xml version="1.0" encoding="utf-8"?>
<p:tagLst xmlns:p="http://schemas.openxmlformats.org/presentationml/2006/main">
  <p:tag name="KSO_WM_DIAGRAM_VIRTUALLY_FRAME" val="{&quot;height&quot;:303.35,&quot;left&quot;:86.4,&quot;top&quot;:158.4,&quot;width&quot;:737.6}"/>
</p:tagLst>
</file>

<file path=ppt/tags/tag5.xml><?xml version="1.0" encoding="utf-8"?>
<p:tagLst xmlns:p="http://schemas.openxmlformats.org/presentationml/2006/main">
  <p:tag name="KSO_WM_DIAGRAM_VIRTUALLY_FRAME" val="{&quot;height&quot;:303.35,&quot;left&quot;:86.4,&quot;top&quot;:158.4,&quot;width&quot;:737.6}"/>
</p:tagLst>
</file>

<file path=ppt/tags/tag6.xml><?xml version="1.0" encoding="utf-8"?>
<p:tagLst xmlns:p="http://schemas.openxmlformats.org/presentationml/2006/main">
  <p:tag name="KSO_WM_DIAGRAM_VIRTUALLY_FRAME" val="{&quot;height&quot;:303.35,&quot;left&quot;:86.4,&quot;top&quot;:158.4,&quot;width&quot;:737.6}"/>
</p:tagLst>
</file>

<file path=ppt/tags/tag7.xml><?xml version="1.0" encoding="utf-8"?>
<p:tagLst xmlns:p="http://schemas.openxmlformats.org/presentationml/2006/main">
  <p:tag name="KSO_WM_DIAGRAM_VIRTUALLY_FRAME" val="{&quot;height&quot;:303.35,&quot;left&quot;:86.4,&quot;top&quot;:158.4,&quot;width&quot;:737.6}"/>
</p:tagLst>
</file>

<file path=ppt/tags/tag8.xml><?xml version="1.0" encoding="utf-8"?>
<p:tagLst xmlns:p="http://schemas.openxmlformats.org/presentationml/2006/main">
  <p:tag name="KSO_WM_DIAGRAM_VIRTUALLY_FRAME" val="{&quot;height&quot;:303.35,&quot;left&quot;:86.4,&quot;top&quot;:158.4,&quot;width&quot;:737.6}"/>
</p:tagLst>
</file>

<file path=ppt/tags/tag9.xml><?xml version="1.0" encoding="utf-8"?>
<p:tagLst xmlns:p="http://schemas.openxmlformats.org/presentationml/2006/main">
  <p:tag name="KSO_WM_DIAGRAM_VIRTUALLY_FRAME" val="{&quot;height&quot;:303.35,&quot;left&quot;:86.4,&quot;top&quot;:158.4,&quot;width&quot;:737.6}"/>
</p:tagLst>
</file>

<file path=ppt/tags/tag10.xml><?xml version="1.0" encoding="utf-8"?>
<p:tagLst xmlns:p="http://schemas.openxmlformats.org/presentationml/2006/main">
  <p:tag name="KSO_WM_DIAGRAM_VIRTUALLY_FRAME" val="{&quot;height&quot;:303.35,&quot;left&quot;:86.4,&quot;top&quot;:158.4,&quot;width&quot;:737.6}"/>
</p:tagLst>
</file>

<file path=ppt/tags/tag11.xml><?xml version="1.0" encoding="utf-8"?>
<p:tagLst xmlns:p="http://schemas.openxmlformats.org/presentationml/2006/main">
  <p:tag name="KSO_WM_DIAGRAM_VIRTUALLY_FRAME" val="{&quot;height&quot;:303.35,&quot;left&quot;:86.4,&quot;top&quot;:158.4,&quot;width&quot;:737.6}"/>
</p:tagLst>
</file>

<file path=ppt/tags/tag12.xml><?xml version="1.0" encoding="utf-8"?>
<p:tagLst xmlns:p="http://schemas.openxmlformats.org/presentationml/2006/main">
  <p:tag name="KSO_WM_DIAGRAM_VIRTUALLY_FRAME" val="{&quot;height&quot;:303.35,&quot;left&quot;:86.4,&quot;top&quot;:158.4,&quot;width&quot;:737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1644</Words>
  <Application>WPS 演示</Application>
  <PresentationFormat>On-screen Show (4:3)</PresentationFormat>
  <Paragraphs>260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.</cp:lastModifiedBy>
  <cp:revision>2</cp:revision>
  <dcterms:created xsi:type="dcterms:W3CDTF">2013-01-27T09:14:00Z</dcterms:created>
  <dcterms:modified xsi:type="dcterms:W3CDTF">2026-07-15T12:56:55Z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67EBA0DF76E640C0B6A0978E7B1B8767_12</vt:lpwstr>
  </property>
</Properties>
</file>